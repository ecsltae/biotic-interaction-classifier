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Biotic Interaction Classifier</a:t>
            </a:r>
          </a:p>
        </p:txBody>
      </p:sp>
      <p:sp>
        <p:nvSpPr>
          <p:cNvPr id="3" name="Subtitle 2"/>
          <p:cNvSpPr>
            <a:spLocks noGrp="1"/>
          </p:cNvSpPr>
          <p:nvPr>
            <p:ph type="subTitle" idx="1"/>
          </p:nvPr>
        </p:nvSpPr>
        <p:spPr/>
        <p:txBody>
          <a:bodyPr/>
          <a:lstStyle/>
          <a:p>
            <a:r>
              <a:t>Development Journey: From Data to Optimized Ensemble Model</a:t>
            </a:r>
          </a:p>
          <a:p>
            <a:r>
              <a:t>December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Objective: Classify scientific sentences for biotic interactions</a:t>
            </a:r>
          </a:p>
          <a:p>
            <a:pPr lvl="1">
              <a:defRPr sz="1200"/>
            </a:pPr>
            <a:r>
              <a:t>Plant-fungi interactions, predator-prey relationships, etc.</a:t>
            </a:r>
          </a:p>
          <a:p>
            <a:pPr>
              <a:defRPr sz="1400"/>
            </a:pPr>
          </a:p>
          <a:p>
            <a:pPr>
              <a:defRPr sz="1400"/>
            </a:pPr>
            <a:r>
              <a:t>Challenge: High precision required to minimize false positives</a:t>
            </a:r>
          </a:p>
          <a:p>
            <a:pPr>
              <a:defRPr sz="1400"/>
            </a:pPr>
          </a:p>
          <a:p>
            <a:pPr>
              <a:defRPr sz="1400"/>
            </a:pPr>
            <a:r>
              <a:t>Approach: Train multiple transformer models and create ensemble</a:t>
            </a:r>
          </a:p>
          <a:p>
            <a:pPr>
              <a:defRPr sz="1400"/>
            </a:pPr>
          </a:p>
          <a:p>
            <a:pPr>
              <a:defRPr sz="1400"/>
            </a:pPr>
            <a:r>
              <a:t>Dataset: 20,000 training samples + 100-sentence evaluation 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Development Path</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Step 1: Initial dataset (6k samples)</a:t>
            </a:r>
          </a:p>
          <a:p>
            <a:pPr>
              <a:defRPr sz="1400"/>
            </a:pPr>
          </a:p>
          <a:p>
            <a:pPr>
              <a:defRPr sz="1400"/>
            </a:pPr>
            <a:r>
              <a:t>Step 2: Enhanced dataset (20k samples)</a:t>
            </a:r>
          </a:p>
          <a:p>
            <a:pPr lvl="1">
              <a:defRPr sz="1200"/>
            </a:pPr>
            <a:r>
              <a:t>Added diverse examples of biotic interactions</a:t>
            </a:r>
          </a:p>
          <a:p>
            <a:pPr lvl="1">
              <a:defRPr sz="1200"/>
            </a:pPr>
            <a:r>
              <a:t>Included challenging negative examples</a:t>
            </a:r>
          </a:p>
          <a:p>
            <a:pPr lvl="1">
              <a:defRPr sz="1200"/>
            </a:pPr>
            <a:r>
              <a:t>Balanced positive/negative classes</a:t>
            </a:r>
          </a:p>
          <a:p>
            <a:pPr>
              <a:defRPr sz="1400"/>
            </a:pPr>
          </a:p>
          <a:p>
            <a:pPr>
              <a:defRPr sz="1400"/>
            </a:pPr>
            <a:r>
              <a:t>Step 3: Curated evaluation set (100 sentences)</a:t>
            </a:r>
          </a:p>
          <a:p>
            <a:pPr lvl="1">
              <a:defRPr sz="1200"/>
            </a:pPr>
            <a:r>
              <a:t>Hand-labeled by domain expert</a:t>
            </a:r>
          </a:p>
          <a:p>
            <a:pPr lvl="1">
              <a:defRPr sz="1200"/>
            </a:pPr>
            <a:r>
              <a:t>Real-world distribution of interactions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Models Evaluated</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1. BiomedBERT (microsoft/BiomedNLP-PubMedBERT)</a:t>
            </a:r>
          </a:p>
          <a:p>
            <a:pPr lvl="1">
              <a:defRPr sz="1200"/>
            </a:pPr>
            <a:r>
              <a:t>Pre-trained on PubMed abstracts</a:t>
            </a:r>
          </a:p>
          <a:p>
            <a:pPr lvl="1">
              <a:defRPr sz="1200"/>
            </a:pPr>
            <a:r>
              <a:t>Best for biomedical domain</a:t>
            </a:r>
          </a:p>
          <a:p>
            <a:pPr>
              <a:defRPr sz="1400"/>
            </a:pPr>
          </a:p>
          <a:p>
            <a:pPr>
              <a:defRPr sz="1400"/>
            </a:pPr>
            <a:r>
              <a:t>2. BioBERT (dmis-lab/biobert-base-cased-v1.2)</a:t>
            </a:r>
          </a:p>
          <a:p>
            <a:pPr lvl="1">
              <a:defRPr sz="1200"/>
            </a:pPr>
            <a:r>
              <a:t>Trained on biomedical literature</a:t>
            </a:r>
          </a:p>
          <a:p>
            <a:pPr>
              <a:defRPr sz="1400"/>
            </a:pPr>
          </a:p>
          <a:p>
            <a:pPr>
              <a:defRPr sz="1400"/>
            </a:pPr>
            <a:r>
              <a:t>3. RoBERTa (roberta-base)</a:t>
            </a:r>
          </a:p>
          <a:p>
            <a:pPr lvl="1">
              <a:defRPr sz="1200"/>
            </a:pPr>
            <a:r>
              <a:t>General-purpose, robust architecture</a:t>
            </a:r>
          </a:p>
          <a:p>
            <a:pPr>
              <a:defRPr sz="1400"/>
            </a:pPr>
          </a:p>
          <a:p>
            <a:pPr>
              <a:defRPr sz="1400"/>
            </a:pPr>
            <a:r>
              <a:t>4. DistilBERT (distilbert-base-uncased)</a:t>
            </a:r>
          </a:p>
          <a:p>
            <a:pPr lvl="1">
              <a:defRPr sz="1200"/>
            </a:pPr>
            <a:r>
              <a:t>Lighter, faster variant of BERT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Cross-Validation Results (20k samples)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914400"/>
          </a:xfrm>
          <a:prstGeom prst="rect">
            <a:avLst/>
          </a:prstGeom>
          <a:noFill/>
        </p:spPr>
        <p:txBody>
          <a:bodyPr wrap="none">
            <a:spAutoFit/>
          </a:bodyPr>
          <a:lstStyle/>
          <a:p>
            <a:pPr>
              <a:defRPr sz="1600" b="1"/>
            </a:pPr>
            <a:r>
              <a:t>5-Fold Cross-Validation Performance:</a:t>
            </a:r>
          </a:p>
        </p:txBody>
      </p:sp>
      <p:graphicFrame>
        <p:nvGraphicFramePr>
          <p:cNvPr id="5" name="Table 4"/>
          <p:cNvGraphicFramePr>
            <a:graphicFrameLocks noGrp="1"/>
          </p:cNvGraphicFramePr>
          <p:nvPr/>
        </p:nvGraphicFramePr>
        <p:xfrm>
          <a:off x="914400" y="2286000"/>
          <a:ext cx="7315200" cy="3200400"/>
        </p:xfrm>
        <a:graphic>
          <a:graphicData uri="http://schemas.openxmlformats.org/drawingml/2006/table">
            <a:tbl>
              <a:tblPr firstRow="1" bandRow="1">
                <a:tableStyleId>{5C22544A-7EE6-4342-B048-85BDC9FD1C3A}</a:tableStyleId>
              </a:tblPr>
              <a:tblGrid>
                <a:gridCol w="1463040"/>
                <a:gridCol w="1463040"/>
                <a:gridCol w="1463040"/>
                <a:gridCol w="1463040"/>
                <a:gridCol w="1463040"/>
              </a:tblGrid>
              <a:tr h="640080">
                <a:tc>
                  <a:txBody>
                    <a:bodyPr/>
                    <a:lstStyle/>
                    <a:p>
                      <a:pPr>
                        <a:defRPr b="1" sz="1200">
                          <a:solidFill>
                            <a:srgbClr val="FFFFFF"/>
                          </a:solidFill>
                        </a:defRPr>
                      </a:pPr>
                      <a:r>
                        <a:t>Model</a:t>
                      </a:r>
                    </a:p>
                  </a:txBody>
                  <a:tcPr>
                    <a:solidFill>
                      <a:srgbClr val="4472C4"/>
                    </a:solidFill>
                  </a:tcPr>
                </a:tc>
                <a:tc>
                  <a:txBody>
                    <a:bodyPr/>
                    <a:lstStyle/>
                    <a:p>
                      <a:pPr>
                        <a:defRPr b="1" sz="1200">
                          <a:solidFill>
                            <a:srgbClr val="FFFFFF"/>
                          </a:solidFill>
                        </a:defRPr>
                      </a:pPr>
                      <a:r>
                        <a:t>Accuracy</a:t>
                      </a:r>
                    </a:p>
                  </a:txBody>
                  <a:tcPr>
                    <a:solidFill>
                      <a:srgbClr val="4472C4"/>
                    </a:solidFill>
                  </a:tcPr>
                </a:tc>
                <a:tc>
                  <a:txBody>
                    <a:bodyPr/>
                    <a:lstStyle/>
                    <a:p>
                      <a:pPr>
                        <a:defRPr b="1" sz="1200">
                          <a:solidFill>
                            <a:srgbClr val="FFFFFF"/>
                          </a:solidFill>
                        </a:defRPr>
                      </a:pPr>
                      <a:r>
                        <a:t>F1 Score</a:t>
                      </a:r>
                    </a:p>
                  </a:txBody>
                  <a:tcPr>
                    <a:solidFill>
                      <a:srgbClr val="4472C4"/>
                    </a:solidFill>
                  </a:tcPr>
                </a:tc>
                <a:tc>
                  <a:txBody>
                    <a:bodyPr/>
                    <a:lstStyle/>
                    <a:p>
                      <a:pPr>
                        <a:defRPr b="1" sz="1200">
                          <a:solidFill>
                            <a:srgbClr val="FFFFFF"/>
                          </a:solidFill>
                        </a:defRPr>
                      </a:pPr>
                      <a:r>
                        <a:t>Precision</a:t>
                      </a:r>
                    </a:p>
                  </a:txBody>
                  <a:tcPr>
                    <a:solidFill>
                      <a:srgbClr val="4472C4"/>
                    </a:solidFill>
                  </a:tcPr>
                </a:tc>
                <a:tc>
                  <a:txBody>
                    <a:bodyPr/>
                    <a:lstStyle/>
                    <a:p>
                      <a:pPr>
                        <a:defRPr b="1" sz="1200">
                          <a:solidFill>
                            <a:srgbClr val="FFFFFF"/>
                          </a:solidFill>
                        </a:defRPr>
                      </a:pPr>
                      <a:r>
                        <a:t>Recall</a:t>
                      </a:r>
                    </a:p>
                  </a:txBody>
                  <a:tcPr>
                    <a:solidFill>
                      <a:srgbClr val="4472C4"/>
                    </a:solidFill>
                  </a:tcPr>
                </a:tc>
              </a:tr>
              <a:tr h="640080">
                <a:tc>
                  <a:txBody>
                    <a:bodyPr/>
                    <a:lstStyle/>
                    <a:p>
                      <a:pPr>
                        <a:defRPr sz="1100"/>
                      </a:pPr>
                      <a:r>
                        <a:t>BiomedBERT 🏆</a:t>
                      </a:r>
                    </a:p>
                  </a:txBody>
                  <a:tcPr>
                    <a:solidFill>
                      <a:srgbClr val="FFF2CC"/>
                    </a:solidFill>
                  </a:tcPr>
                </a:tc>
                <a:tc>
                  <a:txBody>
                    <a:bodyPr/>
                    <a:lstStyle/>
                    <a:p>
                      <a:pPr>
                        <a:defRPr sz="1100"/>
                      </a:pPr>
                      <a:r>
                        <a:t>85.5%</a:t>
                      </a:r>
                    </a:p>
                  </a:txBody>
                  <a:tcPr>
                    <a:solidFill>
                      <a:srgbClr val="FFF2CC"/>
                    </a:solidFill>
                  </a:tcPr>
                </a:tc>
                <a:tc>
                  <a:txBody>
                    <a:bodyPr/>
                    <a:lstStyle/>
                    <a:p>
                      <a:pPr>
                        <a:defRPr sz="1100"/>
                      </a:pPr>
                      <a:r>
                        <a:t>86.4%</a:t>
                      </a:r>
                    </a:p>
                  </a:txBody>
                  <a:tcPr>
                    <a:solidFill>
                      <a:srgbClr val="FFF2CC"/>
                    </a:solidFill>
                  </a:tcPr>
                </a:tc>
                <a:tc>
                  <a:txBody>
                    <a:bodyPr/>
                    <a:lstStyle/>
                    <a:p>
                      <a:pPr>
                        <a:defRPr sz="1100"/>
                      </a:pPr>
                      <a:r>
                        <a:t>81.2%</a:t>
                      </a:r>
                    </a:p>
                  </a:txBody>
                  <a:tcPr>
                    <a:solidFill>
                      <a:srgbClr val="FFF2CC"/>
                    </a:solidFill>
                  </a:tcPr>
                </a:tc>
                <a:tc>
                  <a:txBody>
                    <a:bodyPr/>
                    <a:lstStyle/>
                    <a:p>
                      <a:pPr>
                        <a:defRPr sz="1100"/>
                      </a:pPr>
                      <a:r>
                        <a:t>92.6%</a:t>
                      </a:r>
                    </a:p>
                  </a:txBody>
                  <a:tcPr>
                    <a:solidFill>
                      <a:srgbClr val="FFF2CC"/>
                    </a:solidFill>
                  </a:tcPr>
                </a:tc>
              </a:tr>
              <a:tr h="640080">
                <a:tc>
                  <a:txBody>
                    <a:bodyPr/>
                    <a:lstStyle/>
                    <a:p>
                      <a:pPr>
                        <a:defRPr sz="1100"/>
                      </a:pPr>
                      <a:r>
                        <a:t>BioBERT</a:t>
                      </a:r>
                    </a:p>
                  </a:txBody>
                  <a:tcPr/>
                </a:tc>
                <a:tc>
                  <a:txBody>
                    <a:bodyPr/>
                    <a:lstStyle/>
                    <a:p>
                      <a:pPr>
                        <a:defRPr sz="1100"/>
                      </a:pPr>
                      <a:r>
                        <a:t>85.0%</a:t>
                      </a:r>
                    </a:p>
                  </a:txBody>
                  <a:tcPr/>
                </a:tc>
                <a:tc>
                  <a:txBody>
                    <a:bodyPr/>
                    <a:lstStyle/>
                    <a:p>
                      <a:pPr>
                        <a:defRPr sz="1100"/>
                      </a:pPr>
                      <a:r>
                        <a:t>86.2%</a:t>
                      </a:r>
                    </a:p>
                  </a:txBody>
                  <a:tcPr/>
                </a:tc>
                <a:tc>
                  <a:txBody>
                    <a:bodyPr/>
                    <a:lstStyle/>
                    <a:p>
                      <a:pPr>
                        <a:defRPr sz="1100"/>
                      </a:pPr>
                      <a:r>
                        <a:t>79.7%</a:t>
                      </a:r>
                    </a:p>
                  </a:txBody>
                  <a:tcPr/>
                </a:tc>
                <a:tc>
                  <a:txBody>
                    <a:bodyPr/>
                    <a:lstStyle/>
                    <a:p>
                      <a:pPr>
                        <a:defRPr sz="1100"/>
                      </a:pPr>
                      <a:r>
                        <a:t>93.9%</a:t>
                      </a:r>
                    </a:p>
                  </a:txBody>
                  <a:tcPr/>
                </a:tc>
              </a:tr>
              <a:tr h="640080">
                <a:tc>
                  <a:txBody>
                    <a:bodyPr/>
                    <a:lstStyle/>
                    <a:p>
                      <a:pPr>
                        <a:defRPr sz="1100"/>
                      </a:pPr>
                      <a:r>
                        <a:t>DistilBERT</a:t>
                      </a:r>
                    </a:p>
                  </a:txBody>
                  <a:tcPr/>
                </a:tc>
                <a:tc>
                  <a:txBody>
                    <a:bodyPr/>
                    <a:lstStyle/>
                    <a:p>
                      <a:pPr>
                        <a:defRPr sz="1100"/>
                      </a:pPr>
                      <a:r>
                        <a:t>84.6%</a:t>
                      </a:r>
                    </a:p>
                  </a:txBody>
                  <a:tcPr/>
                </a:tc>
                <a:tc>
                  <a:txBody>
                    <a:bodyPr/>
                    <a:lstStyle/>
                    <a:p>
                      <a:pPr>
                        <a:defRPr sz="1100"/>
                      </a:pPr>
                      <a:r>
                        <a:t>86.0%</a:t>
                      </a:r>
                    </a:p>
                  </a:txBody>
                  <a:tcPr/>
                </a:tc>
                <a:tc>
                  <a:txBody>
                    <a:bodyPr/>
                    <a:lstStyle/>
                    <a:p>
                      <a:pPr>
                        <a:defRPr sz="1100"/>
                      </a:pPr>
                      <a:r>
                        <a:t>79.0%</a:t>
                      </a:r>
                    </a:p>
                  </a:txBody>
                  <a:tcPr/>
                </a:tc>
                <a:tc>
                  <a:txBody>
                    <a:bodyPr/>
                    <a:lstStyle/>
                    <a:p>
                      <a:pPr>
                        <a:defRPr sz="1100"/>
                      </a:pPr>
                      <a:r>
                        <a:t>94.3%</a:t>
                      </a:r>
                    </a:p>
                  </a:txBody>
                  <a:tcPr/>
                </a:tc>
              </a:tr>
              <a:tr h="640080">
                <a:tc>
                  <a:txBody>
                    <a:bodyPr/>
                    <a:lstStyle/>
                    <a:p>
                      <a:pPr>
                        <a:defRPr sz="1100"/>
                      </a:pPr>
                      <a:r>
                        <a:t>RoBERTa</a:t>
                      </a:r>
                    </a:p>
                  </a:txBody>
                  <a:tcPr/>
                </a:tc>
                <a:tc>
                  <a:txBody>
                    <a:bodyPr/>
                    <a:lstStyle/>
                    <a:p>
                      <a:pPr>
                        <a:defRPr sz="1100"/>
                      </a:pPr>
                      <a:r>
                        <a:t>83.9%</a:t>
                      </a:r>
                    </a:p>
                  </a:txBody>
                  <a:tcPr/>
                </a:tc>
                <a:tc>
                  <a:txBody>
                    <a:bodyPr/>
                    <a:lstStyle/>
                    <a:p>
                      <a:pPr>
                        <a:defRPr sz="1100"/>
                      </a:pPr>
                      <a:r>
                        <a:t>85.8%</a:t>
                      </a:r>
                    </a:p>
                  </a:txBody>
                  <a:tcPr/>
                </a:tc>
                <a:tc>
                  <a:txBody>
                    <a:bodyPr/>
                    <a:lstStyle/>
                    <a:p>
                      <a:pPr>
                        <a:defRPr sz="1100"/>
                      </a:pPr>
                      <a:r>
                        <a:t>76.9%</a:t>
                      </a:r>
                    </a:p>
                  </a:txBody>
                  <a:tcPr/>
                </a:tc>
                <a:tc>
                  <a:txBody>
                    <a:bodyPr/>
                    <a:lstStyle/>
                    <a:p>
                      <a:pPr>
                        <a:defRPr sz="1100"/>
                      </a:pPr>
                      <a:r>
                        <a:t>97.0%</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 BiomedBERT Wins!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BiomedBERT emerged as the best individual model:</a:t>
            </a:r>
          </a:p>
          <a:p>
            <a:pPr lvl="1">
              <a:defRPr sz="1200"/>
            </a:pPr>
            <a:r>
              <a:t>Highest accuracy: 85.5%</a:t>
            </a:r>
          </a:p>
          <a:p>
            <a:pPr lvl="1">
              <a:defRPr sz="1200"/>
            </a:pPr>
            <a:r>
              <a:t>Highest precision: 81.2% (critical for our use case)</a:t>
            </a:r>
          </a:p>
          <a:p>
            <a:pPr lvl="1">
              <a:defRPr sz="1200"/>
            </a:pPr>
            <a:r>
              <a:t>Highest F1 score: 86.4%</a:t>
            </a:r>
          </a:p>
          <a:p>
            <a:pPr>
              <a:defRPr sz="1400"/>
            </a:pPr>
          </a:p>
          <a:p>
            <a:pPr>
              <a:defRPr sz="1400"/>
            </a:pPr>
            <a:r>
              <a:t>Why BiomedBERT performed best:</a:t>
            </a:r>
          </a:p>
          <a:p>
            <a:pPr lvl="1">
              <a:defRPr sz="1200"/>
            </a:pPr>
            <a:r>
              <a:t>Pre-trained specifically on biomedical literature</a:t>
            </a:r>
          </a:p>
          <a:p>
            <a:pPr lvl="1">
              <a:defRPr sz="1200"/>
            </a:pPr>
            <a:r>
              <a:t>Better understanding of scientific terminology</a:t>
            </a:r>
          </a:p>
          <a:p>
            <a:pPr lvl="1">
              <a:defRPr sz="1200"/>
            </a:pPr>
            <a:r>
              <a:t>Optimal balance of precision and recall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on Real Evaluation Set (100 sentences)</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914400" y="1828800"/>
          <a:ext cx="7315200" cy="3657600"/>
        </p:xfrm>
        <a:graphic>
          <a:graphicData uri="http://schemas.openxmlformats.org/drawingml/2006/table">
            <a:tbl>
              <a:tblPr firstRow="1" bandRow="1">
                <a:tableStyleId>{5C22544A-7EE6-4342-B048-85BDC9FD1C3A}</a:tableStyleId>
              </a:tblPr>
              <a:tblGrid>
                <a:gridCol w="1463040"/>
                <a:gridCol w="1463040"/>
                <a:gridCol w="1463040"/>
                <a:gridCol w="1463040"/>
                <a:gridCol w="1463040"/>
              </a:tblGrid>
              <a:tr h="914400">
                <a:tc>
                  <a:txBody>
                    <a:bodyPr/>
                    <a:lstStyle/>
                    <a:p>
                      <a:pPr>
                        <a:defRPr b="1" sz="1200">
                          <a:solidFill>
                            <a:srgbClr val="FFFFFF"/>
                          </a:solidFill>
                        </a:defRPr>
                      </a:pPr>
                      <a:r>
                        <a:t>Model</a:t>
                      </a:r>
                    </a:p>
                  </a:txBody>
                  <a:tcPr>
                    <a:solidFill>
                      <a:srgbClr val="4472C4"/>
                    </a:solidFill>
                  </a:tcPr>
                </a:tc>
                <a:tc>
                  <a:txBody>
                    <a:bodyPr/>
                    <a:lstStyle/>
                    <a:p>
                      <a:pPr>
                        <a:defRPr b="1" sz="1200">
                          <a:solidFill>
                            <a:srgbClr val="FFFFFF"/>
                          </a:solidFill>
                        </a:defRPr>
                      </a:pPr>
                      <a:r>
                        <a:t>Accuracy</a:t>
                      </a:r>
                    </a:p>
                  </a:txBody>
                  <a:tcPr>
                    <a:solidFill>
                      <a:srgbClr val="4472C4"/>
                    </a:solidFill>
                  </a:tcPr>
                </a:tc>
                <a:tc>
                  <a:txBody>
                    <a:bodyPr/>
                    <a:lstStyle/>
                    <a:p>
                      <a:pPr>
                        <a:defRPr b="1" sz="1200">
                          <a:solidFill>
                            <a:srgbClr val="FFFFFF"/>
                          </a:solidFill>
                        </a:defRPr>
                      </a:pPr>
                      <a:r>
                        <a:t>Precision</a:t>
                      </a:r>
                    </a:p>
                  </a:txBody>
                  <a:tcPr>
                    <a:solidFill>
                      <a:srgbClr val="4472C4"/>
                    </a:solidFill>
                  </a:tcPr>
                </a:tc>
                <a:tc>
                  <a:txBody>
                    <a:bodyPr/>
                    <a:lstStyle/>
                    <a:p>
                      <a:pPr>
                        <a:defRPr b="1" sz="1200">
                          <a:solidFill>
                            <a:srgbClr val="FFFFFF"/>
                          </a:solidFill>
                        </a:defRPr>
                      </a:pPr>
                      <a:r>
                        <a:t>Recall</a:t>
                      </a:r>
                    </a:p>
                  </a:txBody>
                  <a:tcPr>
                    <a:solidFill>
                      <a:srgbClr val="4472C4"/>
                    </a:solidFill>
                  </a:tcPr>
                </a:tc>
                <a:tc>
                  <a:txBody>
                    <a:bodyPr/>
                    <a:lstStyle/>
                    <a:p>
                      <a:pPr>
                        <a:defRPr b="1" sz="1200">
                          <a:solidFill>
                            <a:srgbClr val="FFFFFF"/>
                          </a:solidFill>
                        </a:defRPr>
                      </a:pPr>
                      <a:r>
                        <a:t>F1</a:t>
                      </a:r>
                    </a:p>
                  </a:txBody>
                  <a:tcPr>
                    <a:solidFill>
                      <a:srgbClr val="4472C4"/>
                    </a:solidFill>
                  </a:tcPr>
                </a:tc>
              </a:tr>
              <a:tr h="914400">
                <a:tc>
                  <a:txBody>
                    <a:bodyPr/>
                    <a:lstStyle/>
                    <a:p>
                      <a:pPr>
                        <a:defRPr sz="1100"/>
                      </a:pPr>
                      <a:r>
                        <a:t>Ensemble (F1-opt) 🏆</a:t>
                      </a:r>
                    </a:p>
                  </a:txBody>
                  <a:tcPr>
                    <a:solidFill>
                      <a:srgbClr val="FFF2CC"/>
                    </a:solidFill>
                  </a:tcPr>
                </a:tc>
                <a:tc>
                  <a:txBody>
                    <a:bodyPr/>
                    <a:lstStyle/>
                    <a:p>
                      <a:pPr>
                        <a:defRPr sz="1100"/>
                      </a:pPr>
                      <a:r>
                        <a:t>77.0%</a:t>
                      </a:r>
                    </a:p>
                  </a:txBody>
                  <a:tcPr>
                    <a:solidFill>
                      <a:srgbClr val="FFF2CC"/>
                    </a:solidFill>
                  </a:tcPr>
                </a:tc>
                <a:tc>
                  <a:txBody>
                    <a:bodyPr/>
                    <a:lstStyle/>
                    <a:p>
                      <a:pPr>
                        <a:defRPr sz="1100"/>
                      </a:pPr>
                      <a:r>
                        <a:t>50.0%</a:t>
                      </a:r>
                    </a:p>
                  </a:txBody>
                  <a:tcPr>
                    <a:solidFill>
                      <a:srgbClr val="FFF2CC"/>
                    </a:solidFill>
                  </a:tcPr>
                </a:tc>
                <a:tc>
                  <a:txBody>
                    <a:bodyPr/>
                    <a:lstStyle/>
                    <a:p>
                      <a:pPr>
                        <a:defRPr sz="1100"/>
                      </a:pPr>
                      <a:r>
                        <a:t>43.5%</a:t>
                      </a:r>
                    </a:p>
                  </a:txBody>
                  <a:tcPr>
                    <a:solidFill>
                      <a:srgbClr val="FFF2CC"/>
                    </a:solidFill>
                  </a:tcPr>
                </a:tc>
                <a:tc>
                  <a:txBody>
                    <a:bodyPr/>
                    <a:lstStyle/>
                    <a:p>
                      <a:pPr>
                        <a:defRPr sz="1100"/>
                      </a:pPr>
                      <a:r>
                        <a:t>46.5%</a:t>
                      </a:r>
                    </a:p>
                  </a:txBody>
                  <a:tcPr>
                    <a:solidFill>
                      <a:srgbClr val="FFF2CC"/>
                    </a:solidFill>
                  </a:tcPr>
                </a:tc>
              </a:tr>
              <a:tr h="914400">
                <a:tc>
                  <a:txBody>
                    <a:bodyPr/>
                    <a:lstStyle/>
                    <a:p>
                      <a:pPr>
                        <a:defRPr sz="1100"/>
                      </a:pPr>
                      <a:r>
                        <a:t>BiomedBERT</a:t>
                      </a:r>
                    </a:p>
                  </a:txBody>
                  <a:tcPr/>
                </a:tc>
                <a:tc>
                  <a:txBody>
                    <a:bodyPr/>
                    <a:lstStyle/>
                    <a:p>
                      <a:pPr>
                        <a:defRPr sz="1100"/>
                      </a:pPr>
                      <a:r>
                        <a:t>76.0%</a:t>
                      </a:r>
                    </a:p>
                  </a:txBody>
                  <a:tcPr/>
                </a:tc>
                <a:tc>
                  <a:txBody>
                    <a:bodyPr/>
                    <a:lstStyle/>
                    <a:p>
                      <a:pPr>
                        <a:defRPr sz="1100"/>
                      </a:pPr>
                      <a:r>
                        <a:t>46.2%</a:t>
                      </a:r>
                    </a:p>
                  </a:txBody>
                  <a:tcPr/>
                </a:tc>
                <a:tc>
                  <a:txBody>
                    <a:bodyPr/>
                    <a:lstStyle/>
                    <a:p>
                      <a:pPr>
                        <a:defRPr sz="1100"/>
                      </a:pPr>
                      <a:r>
                        <a:t>26.1%</a:t>
                      </a:r>
                    </a:p>
                  </a:txBody>
                  <a:tcPr/>
                </a:tc>
                <a:tc>
                  <a:txBody>
                    <a:bodyPr/>
                    <a:lstStyle/>
                    <a:p>
                      <a:pPr>
                        <a:defRPr sz="1100"/>
                      </a:pPr>
                      <a:r>
                        <a:t>33.3%</a:t>
                      </a:r>
                    </a:p>
                  </a:txBody>
                  <a:tcPr/>
                </a:tc>
              </a:tr>
              <a:tr h="914400">
                <a:tc>
                  <a:txBody>
                    <a:bodyPr/>
                    <a:lstStyle/>
                    <a:p>
                      <a:pPr>
                        <a:defRPr sz="1100"/>
                      </a:pPr>
                      <a:r>
                        <a:t>RoBERTa</a:t>
                      </a:r>
                    </a:p>
                  </a:txBody>
                  <a:tcPr/>
                </a:tc>
                <a:tc>
                  <a:txBody>
                    <a:bodyPr/>
                    <a:lstStyle/>
                    <a:p>
                      <a:pPr>
                        <a:defRPr sz="1100"/>
                      </a:pPr>
                      <a:r>
                        <a:t>46.0%</a:t>
                      </a:r>
                    </a:p>
                  </a:txBody>
                  <a:tcPr/>
                </a:tc>
                <a:tc>
                  <a:txBody>
                    <a:bodyPr/>
                    <a:lstStyle/>
                    <a:p>
                      <a:pPr>
                        <a:defRPr sz="1100"/>
                      </a:pPr>
                      <a:r>
                        <a:t>25.4%</a:t>
                      </a:r>
                    </a:p>
                  </a:txBody>
                  <a:tcPr/>
                </a:tc>
                <a:tc>
                  <a:txBody>
                    <a:bodyPr/>
                    <a:lstStyle/>
                    <a:p>
                      <a:pPr>
                        <a:defRPr sz="1100"/>
                      </a:pPr>
                      <a:r>
                        <a:t>69.6%</a:t>
                      </a:r>
                    </a:p>
                  </a:txBody>
                  <a:tcPr/>
                </a:tc>
                <a:tc>
                  <a:txBody>
                    <a:bodyPr/>
                    <a:lstStyle/>
                    <a:p>
                      <a:pPr>
                        <a:defRPr sz="1100"/>
                      </a:pPr>
                      <a:r>
                        <a:t>37.2%</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Ensemble Learning Strategy</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Combining BiomedBERT (precision) + RoBERTa (recall)</a:t>
            </a:r>
          </a:p>
          <a:p>
            <a:pPr>
              <a:defRPr sz="1400"/>
            </a:pPr>
          </a:p>
          <a:p>
            <a:pPr>
              <a:defRPr sz="1400"/>
            </a:pPr>
            <a:r>
              <a:t>Method: Weighted Soft Voting</a:t>
            </a:r>
          </a:p>
          <a:p>
            <a:pPr lvl="1">
              <a:defRPr sz="1200"/>
            </a:pPr>
            <a:r>
              <a:t>BiomedBERT weight: 65% (emphasizes precision)</a:t>
            </a:r>
          </a:p>
          <a:p>
            <a:pPr lvl="1">
              <a:defRPr sz="1200"/>
            </a:pPr>
            <a:r>
              <a:t>RoBERTa weight: 35% (contributes recall)</a:t>
            </a:r>
          </a:p>
          <a:p>
            <a:pPr lvl="1">
              <a:defRPr sz="1200"/>
            </a:pPr>
            <a:r>
              <a:t>Average probabilities, not just votes</a:t>
            </a:r>
          </a:p>
          <a:p>
            <a:pPr>
              <a:defRPr sz="1400"/>
            </a:pPr>
          </a:p>
          <a:p>
            <a:pPr>
              <a:defRPr sz="1400"/>
            </a:pPr>
            <a:r>
              <a:t>Result: Best of both worlds</a:t>
            </a:r>
          </a:p>
          <a:p>
            <a:pPr lvl="1">
              <a:defRPr sz="1200"/>
            </a:pPr>
            <a:r>
              <a:t>50% precision (better than BiomedBERT alone: 46.2%)</a:t>
            </a:r>
          </a:p>
          <a:p>
            <a:pPr lvl="1">
              <a:defRPr sz="1200"/>
            </a:pPr>
            <a:r>
              <a:t>43.5% recall (balanced, not too conservative)</a:t>
            </a:r>
          </a:p>
          <a:p>
            <a:pPr lvl="1">
              <a:defRPr sz="1200"/>
            </a:pPr>
            <a:r>
              <a:t>Highest F1 score on real test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Inference Speed Optimizations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FP16 Half Precision</a:t>
            </a:r>
          </a:p>
          <a:p>
            <a:pPr lvl="1">
              <a:defRPr sz="1200"/>
            </a:pPr>
            <a:r>
              <a:t>2x faster inference with minimal accuracy loss</a:t>
            </a:r>
          </a:p>
          <a:p>
            <a:pPr lvl="1">
              <a:defRPr sz="1200"/>
            </a:pPr>
            <a:r>
              <a:t>Reduces memory usage by 50%</a:t>
            </a:r>
          </a:p>
          <a:p>
            <a:pPr>
              <a:defRPr sz="1400"/>
            </a:pPr>
          </a:p>
          <a:p>
            <a:pPr>
              <a:defRPr sz="1400"/>
            </a:pPr>
            <a:r>
              <a:t>torch.compile (PyTorch 2.0+)</a:t>
            </a:r>
          </a:p>
          <a:p>
            <a:pPr lvl="1">
              <a:defRPr sz="1200"/>
            </a:pPr>
            <a:r>
              <a:t>Graph optimization for faster execution</a:t>
            </a:r>
          </a:p>
          <a:p>
            <a:pPr>
              <a:defRPr sz="1400"/>
            </a:pPr>
          </a:p>
          <a:p>
            <a:pPr>
              <a:defRPr sz="1400"/>
            </a:pPr>
            <a:r>
              <a:t>Batch Processing</a:t>
            </a:r>
          </a:p>
          <a:p>
            <a:pPr lvl="1">
              <a:defRPr sz="1200"/>
            </a:pPr>
            <a:r>
              <a:t>663 samples/second in batch mode</a:t>
            </a:r>
          </a:p>
          <a:p>
            <a:pPr lvl="1">
              <a:defRPr sz="1200"/>
            </a:pPr>
            <a:r>
              <a:t>288ms per single sentence</a:t>
            </a:r>
          </a:p>
          <a:p>
            <a:pPr>
              <a:defRPr sz="1400"/>
            </a:pPr>
          </a:p>
          <a:p>
            <a:pPr>
              <a:defRPr sz="1400"/>
            </a:pPr>
            <a:r>
              <a:t>Hardware: NVIDIA A100 80GB GPU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Correctly Identified Interaction ✓</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Sentence:</a:t>
            </a:r>
          </a:p>
          <a:p>
            <a:pPr lvl="1">
              <a:defRPr sz="1200"/>
            </a:pPr>
            <a:r>
              <a:t>"observations on the sandfly diptera psychodidae fauna of alãm paraãba state of minas gerais brazil and the isolation of a parasite of the leishmania braziliensis complex from psychodopygus hirsuta hirsuta"</a:t>
            </a:r>
          </a:p>
          <a:p>
            <a:pPr>
              <a:defRPr sz="1400"/>
            </a:pPr>
          </a:p>
          <a:p>
            <a:pPr>
              <a:defRPr sz="1400"/>
            </a:pPr>
            <a:r>
              <a:t>True Label: POSITIVE (biotic interaction)</a:t>
            </a:r>
          </a:p>
          <a:p>
            <a:pPr>
              <a:defRPr sz="1400"/>
            </a:pPr>
            <a:r>
              <a:t>Ensemble Prediction: POSITIVE ✓</a:t>
            </a:r>
          </a:p>
          <a:p>
            <a:pPr>
              <a:defRPr sz="1400"/>
            </a:pPr>
            <a:r>
              <a:t>Confidence: 40.4%</a:t>
            </a:r>
          </a:p>
          <a:p>
            <a:pPr>
              <a:defRPr sz="1400"/>
            </a:pPr>
          </a:p>
          <a:p>
            <a:pPr>
              <a:defRPr sz="1400"/>
            </a:pPr>
            <a:r>
              <a:t>Individual Models:</a:t>
            </a:r>
          </a:p>
          <a:p>
            <a:pPr lvl="1">
              <a:defRPr sz="1200"/>
            </a:pPr>
            <a:r>
              <a:t>BiomedBERT: NEGATIVE (16.9%)</a:t>
            </a:r>
          </a:p>
          <a:p>
            <a:pPr lvl="1">
              <a:defRPr sz="1200"/>
            </a:pPr>
            <a:r>
              <a:t>RoBERTa: POSITIVE (83.9%)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Correctly Rejected Non-Interaction ✓</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Sentence:</a:t>
            </a:r>
          </a:p>
          <a:p>
            <a:pPr lvl="1">
              <a:defRPr sz="1200"/>
            </a:pPr>
            <a:r>
              <a:t>"our results show at a minimum it is possible to produce spatially explicit waterfowl abundance models that when summed across survey strata will produce similar strata level population estimates as the designbased waterfowl breeding pair and habitat survey r2  0977"</a:t>
            </a:r>
          </a:p>
          <a:p>
            <a:pPr>
              <a:defRPr sz="1400"/>
            </a:pPr>
          </a:p>
          <a:p>
            <a:pPr>
              <a:defRPr sz="1400"/>
            </a:pPr>
            <a:r>
              <a:t>True Label: NEGATIVE (no interaction)</a:t>
            </a:r>
          </a:p>
          <a:p>
            <a:pPr>
              <a:defRPr sz="1400"/>
            </a:pPr>
            <a:r>
              <a:t>Ensemble Prediction: NEGATIVE ✓</a:t>
            </a:r>
          </a:p>
          <a:p>
            <a:pPr>
              <a:defRPr sz="1400"/>
            </a:pPr>
            <a:r>
              <a:t>Confidence: 99.2%</a:t>
            </a:r>
          </a:p>
          <a:p>
            <a:pPr>
              <a:defRPr sz="1400"/>
            </a:pPr>
          </a:p>
          <a:p>
            <a:pPr>
              <a:defRPr sz="1400"/>
            </a:pPr>
            <a:r>
              <a:t>Individual Models:</a:t>
            </a:r>
          </a:p>
          <a:p>
            <a:pPr lvl="1">
              <a:defRPr sz="1200"/>
            </a:pPr>
            <a:r>
              <a:t>BiomedBERT: NEGATIVE (0.1%)</a:t>
            </a:r>
          </a:p>
          <a:p>
            <a:pPr lvl="1">
              <a:defRPr sz="1200"/>
            </a:pPr>
            <a:r>
              <a:t>RoBERTa: NEGATIVE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False Positive (Model Error) ✗</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Sentence:</a:t>
            </a:r>
          </a:p>
          <a:p>
            <a:pPr lvl="1">
              <a:defRPr sz="1200"/>
            </a:pPr>
            <a:r>
              <a:t>"geographic and hostrelated variation among species of fessisentis acanthocephala and confirmation of the fessisentis fessus life cycle"</a:t>
            </a:r>
          </a:p>
          <a:p>
            <a:pPr>
              <a:defRPr sz="1400"/>
            </a:pPr>
          </a:p>
          <a:p>
            <a:pPr>
              <a:defRPr sz="1400"/>
            </a:pPr>
            <a:r>
              <a:t>True Label: NEGATIVE (no interaction)</a:t>
            </a:r>
          </a:p>
          <a:p>
            <a:pPr>
              <a:defRPr sz="1400"/>
            </a:pPr>
            <a:r>
              <a:t>Ensemble Prediction: POSITIVE ✗ (ERROR)</a:t>
            </a:r>
          </a:p>
          <a:p>
            <a:pPr>
              <a:defRPr sz="1400"/>
            </a:pPr>
            <a:r>
              <a:t>Confidence: 55.3%</a:t>
            </a:r>
          </a:p>
          <a:p>
            <a:pPr>
              <a:defRPr sz="1400"/>
            </a:pPr>
          </a:p>
          <a:p>
            <a:pPr>
              <a:defRPr sz="1400"/>
            </a:pPr>
            <a:r>
              <a:t>Why the error?</a:t>
            </a:r>
          </a:p>
          <a:p>
            <a:pPr lvl="1">
              <a:defRPr sz="1200"/>
            </a:pPr>
            <a:r>
              <a:t>Mentions species names but no actual interaction</a:t>
            </a:r>
          </a:p>
          <a:p>
            <a:pPr lvl="1">
              <a:defRPr sz="1200"/>
            </a:pPr>
            <a:r>
              <a:t>Models may be fooled by co-occurrence of organism names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False Negative (Missed Interaction) ✗</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Sentence:</a:t>
            </a:r>
          </a:p>
          <a:p>
            <a:pPr lvl="1">
              <a:defRPr sz="1200"/>
            </a:pPr>
            <a:r>
              <a:t>"fieldcollected specimens of glossiphoniid leeches torix tagoi torix tukubana hemiclepsis marginata and hemiclepsis japonica were surveyed for rickettsia infection by using a diagnostic pcr assay"</a:t>
            </a:r>
          </a:p>
          <a:p>
            <a:pPr>
              <a:defRPr sz="1400"/>
            </a:pPr>
          </a:p>
          <a:p>
            <a:pPr>
              <a:defRPr sz="1400"/>
            </a:pPr>
            <a:r>
              <a:t>True Label: POSITIVE (interaction present)</a:t>
            </a:r>
          </a:p>
          <a:p>
            <a:pPr>
              <a:defRPr sz="1400"/>
            </a:pPr>
            <a:r>
              <a:t>Ensemble Prediction: NEGATIVE ✗ (MISSED)</a:t>
            </a:r>
          </a:p>
          <a:p>
            <a:pPr>
              <a:defRPr sz="1400"/>
            </a:pPr>
            <a:r>
              <a:t>Confidence: 76.5%</a:t>
            </a:r>
          </a:p>
          <a:p>
            <a:pPr>
              <a:defRPr sz="1400"/>
            </a:pPr>
          </a:p>
          <a:p>
            <a:pPr>
              <a:defRPr sz="1400"/>
            </a:pPr>
            <a:r>
              <a:t>Why missed?</a:t>
            </a:r>
          </a:p>
          <a:p>
            <a:pPr lvl="1">
              <a:defRPr sz="1200"/>
            </a:pPr>
            <a:r>
              <a:t>Subtle or implicit interaction description</a:t>
            </a:r>
          </a:p>
          <a:p>
            <a:pPr lvl="1">
              <a:defRPr sz="1200"/>
            </a:pPr>
            <a:r>
              <a:t>May require deeper biological context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Analysis Summary</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Ensemble Model Errors (out of 100 test sentences):</a:t>
            </a:r>
          </a:p>
          <a:p>
            <a:pPr>
              <a:defRPr sz="1400"/>
            </a:pPr>
          </a:p>
          <a:p>
            <a:pPr>
              <a:defRPr sz="1400"/>
            </a:pPr>
            <a:r>
              <a:t>False Positives: 10</a:t>
            </a:r>
          </a:p>
          <a:p>
            <a:pPr lvl="1">
              <a:defRPr sz="1200"/>
            </a:pPr>
            <a:r>
              <a:t>Predicted interaction when none exists</a:t>
            </a:r>
          </a:p>
          <a:p>
            <a:pPr lvl="1">
              <a:defRPr sz="1200"/>
            </a:pPr>
            <a:r>
              <a:t>Impact: Wasted effort investigating non-interactions</a:t>
            </a:r>
          </a:p>
          <a:p>
            <a:pPr>
              <a:defRPr sz="1400"/>
            </a:pPr>
          </a:p>
          <a:p>
            <a:pPr>
              <a:defRPr sz="1400"/>
            </a:pPr>
            <a:r>
              <a:t>False Negatives: 13</a:t>
            </a:r>
          </a:p>
          <a:p>
            <a:pPr lvl="1">
              <a:defRPr sz="1200"/>
            </a:pPr>
            <a:r>
              <a:t>Missed actual interactions</a:t>
            </a:r>
          </a:p>
          <a:p>
            <a:pPr lvl="1">
              <a:defRPr sz="1200"/>
            </a:pPr>
            <a:r>
              <a:t>Impact: Lost potential discoveries</a:t>
            </a:r>
          </a:p>
          <a:p>
            <a:pPr>
              <a:defRPr sz="1400"/>
            </a:pPr>
          </a:p>
          <a:p>
            <a:pPr>
              <a:defRPr sz="1400"/>
            </a:pPr>
            <a:r>
              <a:t>Correct Predictions: 77</a:t>
            </a:r>
          </a:p>
          <a:p>
            <a:pPr lvl="1">
              <a:defRPr sz="1200"/>
            </a:pPr>
            <a:r>
              <a:t>77% accuracy on real-world test set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&amp; Next Steps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For Production Use:</a:t>
            </a:r>
          </a:p>
          <a:p>
            <a:pPr lvl="1">
              <a:defRPr sz="1200"/>
            </a:pPr>
            <a:r>
              <a:t>Use Ensemble (F1-optimized threshold)</a:t>
            </a:r>
          </a:p>
          <a:p>
            <a:pPr lvl="1">
              <a:defRPr sz="1200"/>
            </a:pPr>
            <a:r>
              <a:t>Best balance of precision and recall</a:t>
            </a:r>
          </a:p>
          <a:p>
            <a:pPr lvl="1">
              <a:defRPr sz="1200"/>
            </a:pPr>
            <a:r>
              <a:t>288ms per sentence - acceptable for batch processing</a:t>
            </a:r>
          </a:p>
          <a:p>
            <a:pPr>
              <a:defRPr sz="1400"/>
            </a:pPr>
          </a:p>
          <a:p>
            <a:pPr>
              <a:defRPr sz="1400"/>
            </a:pPr>
            <a:r>
              <a:t>Future Improvements:</a:t>
            </a:r>
          </a:p>
          <a:p>
            <a:pPr lvl="1">
              <a:defRPr sz="1200"/>
            </a:pPr>
            <a:r>
              <a:t>Fine-tune on domain-specific interaction types</a:t>
            </a:r>
          </a:p>
          <a:p>
            <a:pPr lvl="1">
              <a:defRPr sz="1200"/>
            </a:pPr>
            <a:r>
              <a:t>Incorporate entity recognition (identify species names)</a:t>
            </a:r>
          </a:p>
          <a:p>
            <a:pPr lvl="1">
              <a:defRPr sz="1200"/>
            </a:pPr>
            <a:r>
              <a:t>Active learning: retrain on corrected predictions</a:t>
            </a:r>
          </a:p>
          <a:p>
            <a:pPr lvl="1">
              <a:defRPr sz="1200"/>
            </a:pPr>
            <a:r>
              <a:t>Investigate false positives/negatives patterns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Available Resources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Prediction CSVs (with probabilities for all 100 test sentences):</a:t>
            </a:r>
          </a:p>
          <a:p>
            <a:pPr lvl="1">
              <a:defRPr sz="1200"/>
            </a:pPr>
            <a:r>
              <a:t>predictions_Ensemble_F1optimized.csv</a:t>
            </a:r>
          </a:p>
          <a:p>
            <a:pPr lvl="1">
              <a:defRPr sz="1200"/>
            </a:pPr>
            <a:r>
              <a:t>predictions_BiomedBERT.csv</a:t>
            </a:r>
          </a:p>
          <a:p>
            <a:pPr lvl="1">
              <a:defRPr sz="1200"/>
            </a:pPr>
            <a:r>
              <a:t>predictions_RoBERTa.csv</a:t>
            </a:r>
          </a:p>
          <a:p>
            <a:pPr lvl="1">
              <a:defRPr sz="1200"/>
            </a:pPr>
            <a:r>
              <a:t>predictions_ALL_MODELS_comparison.csv</a:t>
            </a:r>
          </a:p>
          <a:p>
            <a:pPr>
              <a:defRPr sz="1400"/>
            </a:pPr>
          </a:p>
          <a:p>
            <a:pPr>
              <a:defRPr sz="1400"/>
            </a:pPr>
            <a:r>
              <a:t>Error Analysis:</a:t>
            </a:r>
          </a:p>
          <a:p>
            <a:pPr lvl="1">
              <a:defRPr sz="1200"/>
            </a:pPr>
            <a:r>
              <a:t>errors_FalsePositives_*.csv</a:t>
            </a:r>
          </a:p>
          <a:p>
            <a:pPr lvl="1">
              <a:defRPr sz="1200"/>
            </a:pPr>
            <a:r>
              <a:t>errors_FalseNegatives_*.csv</a:t>
            </a:r>
          </a:p>
          <a:p>
            <a:pPr>
              <a:defRPr sz="1400"/>
            </a:pPr>
          </a:p>
          <a:p>
            <a:pPr>
              <a:defRPr sz="1400"/>
            </a:pPr>
            <a:r>
              <a:t>Models &amp; Code:</a:t>
            </a:r>
          </a:p>
          <a:p>
            <a:pPr lvl="1">
              <a:defRPr sz="1200"/>
            </a:pPr>
            <a:r>
              <a:t>Ensemble classifier: src/models/ensemble_classifier.py</a:t>
            </a:r>
          </a:p>
          <a:p>
            <a:pPr lvl="1">
              <a:defRPr sz="1200"/>
            </a:pPr>
            <a:r>
              <a:t>Trained models: models/transformer_*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 Trained 4 transformer models on 20k samples</a:t>
            </a:r>
          </a:p>
          <a:p>
            <a:pPr>
              <a:defRPr sz="1400"/>
            </a:pPr>
          </a:p>
          <a:p>
            <a:pPr>
              <a:defRPr sz="1400"/>
            </a:pPr>
            <a:r>
              <a:t>✓ BiomedBERT identified as best individual model</a:t>
            </a:r>
          </a:p>
          <a:p>
            <a:pPr>
              <a:defRPr sz="1400"/>
            </a:pPr>
          </a:p>
          <a:p>
            <a:pPr>
              <a:defRPr sz="1400"/>
            </a:pPr>
            <a:r>
              <a:t>✓ Created optimized ensemble (BiomedBERT + RoBERTa)</a:t>
            </a:r>
          </a:p>
          <a:p>
            <a:pPr>
              <a:defRPr sz="1400"/>
            </a:pPr>
          </a:p>
          <a:p>
            <a:pPr>
              <a:defRPr sz="1400"/>
            </a:pPr>
            <a:r>
              <a:t>✓ Achieved 50% precision, 43.5% recall on real test set</a:t>
            </a:r>
          </a:p>
          <a:p>
            <a:pPr>
              <a:defRPr sz="1400"/>
            </a:pPr>
          </a:p>
          <a:p>
            <a:pPr>
              <a:defRPr sz="1400"/>
            </a:pPr>
            <a:r>
              <a:t>✓ Optimized for fast inference (FP16, torch.compile)</a:t>
            </a:r>
          </a:p>
          <a:p>
            <a:pPr>
              <a:defRPr sz="1400"/>
            </a:pPr>
          </a:p>
          <a:p>
            <a:pPr>
              <a:defRPr sz="1400"/>
            </a:pPr>
            <a:r>
              <a:t>✓ Generated detailed predictions and error analysis</a:t>
            </a:r>
          </a:p>
          <a:p>
            <a:pPr>
              <a:defRPr sz="1400"/>
            </a:pPr>
          </a:p>
          <a:p>
            <a:pPr>
              <a:defRPr sz="1400"/>
            </a:pPr>
            <a:r>
              <a:t>Ready for production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